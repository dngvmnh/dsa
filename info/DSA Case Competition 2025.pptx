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72" r:id="rId4"/>
    <p:sldId id="273" r:id="rId5"/>
    <p:sldId id="274" r:id="rId6"/>
    <p:sldId id="271" r:id="rId7"/>
    <p:sldId id="266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32"/>
  </p:normalViewPr>
  <p:slideViewPr>
    <p:cSldViewPr snapToGrid="0">
      <p:cViewPr varScale="1">
        <p:scale>
          <a:sx n="106" d="100"/>
          <a:sy n="106" d="100"/>
        </p:scale>
        <p:origin x="6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B03DD-37D1-554B-9FE9-1BA2037B424F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D2FE9-6CEB-334A-B5E5-62B34ABC29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8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good are you to serve the underserved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92464-37D8-B343-B539-8393EE512FE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674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6" name="Google Shape;3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3663D-5DF8-1C57-BD03-E742E8938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4143C-B82A-D127-DC22-51F9DCD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56422-6E5F-7BCC-43FA-2889FCCEF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3622F-40C2-37AE-39E6-879BED5EF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14624-0CA1-5700-F89B-AD382F8EB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18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E558-D436-41D6-DAC0-2276137C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31C39-D850-159B-04B4-5C7EFD2DF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3F51-2866-F8A1-4426-CC4B322A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4DE70-29AE-11C0-3F4F-64967156D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B60FA-7DBA-35FB-5EF1-D91DE04D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57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ABD0-4F84-5B84-DDF0-DD419ADF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4B0C9-3229-0BC6-7B95-BD889679F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6BF38-803D-0B91-3341-9091F576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F7E83-25EF-AEDF-6349-88CF53227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16E32-6BE1-B6BB-8FA4-D3F12253C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85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14BC-C638-B9AA-C750-3DF207B70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8DD2E-9C07-4F5D-E37A-EDB8BACB3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75101-09EF-5F61-14CE-A8A91C45C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E8A2D-1E2F-B6FA-0CC0-C846F38B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C6301-3A99-C140-4310-8E9DA494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3E17D-560C-4724-61B6-8482F490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848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0B7E-D7D2-3FA9-21D9-D6BA8B89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B4C24-812D-7BEF-2E72-20A2A468B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0EA44-7B23-50BD-9B7F-D22B7D9C4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AE5D2E-1737-28ED-265C-91A65D7B5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636D1-12BF-F658-BFEE-301DB7F2A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501608-CC87-C7D1-1146-4EEA7B489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9BF63-7EAD-6976-470C-2B9424F51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341F9-3237-0B29-B1FC-2B44D18B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666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BDF71-2CEB-EEF9-EC31-F26DBD4E4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EB7F8D-4654-96E2-11D6-CE50A5AB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3B0D2-CAD7-C690-A548-2DD732B2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C550A-4233-032F-FADA-4656EFBB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258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51E14B-10B8-4B8A-5CCC-60C6FC389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7CA165-5939-463F-8240-7A230462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C90AF-C5B4-2824-CD49-F8EFDBBD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56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65B8-5160-93B5-5D5E-D380BB35E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7824B-15E4-A352-AB5E-03CF9E076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0438F-3951-3D9F-8FEE-B050C7321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49DF3-3819-C5C5-8094-654443C13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F7D24-0510-7E7A-BB56-E37F7F229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56693-1563-1743-F6EA-C2ECCC29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99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1248-6D3D-6218-6FF0-89938557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688C8-2602-53F2-F740-DA151ADC5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9FD9D-1185-4154-198F-5483E792C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5B06D-FC3B-7981-9632-CF62C2D6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D784C-25B5-ADCD-DE43-39805828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2F815-3AB5-8AEB-AB63-C13698E9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8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60FE6-9A16-CCEC-F684-C9D6A08A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DD940-5744-C770-1AE1-CC2E27960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2AFE8-9D16-505B-EBB7-A81E3A77F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B6DC-2A55-E10F-9AC3-B4B796BB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B8F33-677D-E222-AF99-F378BE8F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791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FE5E3E-B9B4-DF5F-E100-428BBAFE3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787DC-E332-8B01-1B4F-6FC77479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16335-501B-08BE-FE24-5BC9047A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F17B1-ABA9-2B96-CF18-650738E5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D482D-FDD2-6828-24CF-FF92264E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08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BDEF5-CB20-5E30-120E-695CD0EF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CCBB8-8F62-5AB6-0E04-C5C09F4A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2C3D-C268-BD03-633F-35D6DB00A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CB43E-1CDD-5544-891E-EE8D419E1C6A}" type="datetimeFigureOut">
              <a:rPr lang="en-GB" smtClean="0"/>
              <a:t>27/09/2025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5C8BC-8C2B-EDD5-D1E5-8B81F2CA2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8E97E-C36C-BCB3-F2B2-BEA4544B44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91906-9970-124F-8C69-CAF9CD4E76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33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enesis1v1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enesis1v1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AAC8BE90-B914-3CC7-16BF-46E5C6743985}"/>
              </a:ext>
            </a:extLst>
          </p:cNvPr>
          <p:cNvGrpSpPr/>
          <p:nvPr/>
        </p:nvGrpSpPr>
        <p:grpSpPr>
          <a:xfrm>
            <a:off x="2007493" y="7084479"/>
            <a:ext cx="4535463" cy="2139750"/>
            <a:chOff x="3106358" y="-624343"/>
            <a:chExt cx="8348421" cy="392151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E35F78A-CED8-F230-CEBA-9D4EF3586E0B}"/>
                </a:ext>
              </a:extLst>
            </p:cNvPr>
            <p:cNvSpPr/>
            <p:nvPr/>
          </p:nvSpPr>
          <p:spPr>
            <a:xfrm>
              <a:off x="7028260" y="-388535"/>
              <a:ext cx="3201795" cy="3201795"/>
            </a:xfrm>
            <a:prstGeom prst="ellipse">
              <a:avLst/>
            </a:prstGeom>
            <a:solidFill>
              <a:srgbClr val="4E16B1">
                <a:alpha val="8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0FF5843-B285-000D-83CA-677E98D32344}"/>
                </a:ext>
              </a:extLst>
            </p:cNvPr>
            <p:cNvSpPr/>
            <p:nvPr/>
          </p:nvSpPr>
          <p:spPr>
            <a:xfrm>
              <a:off x="9325986" y="-624343"/>
              <a:ext cx="1887241" cy="1887241"/>
            </a:xfrm>
            <a:prstGeom prst="ellipse">
              <a:avLst/>
            </a:prstGeom>
            <a:solidFill>
              <a:srgbClr val="CCF7E7">
                <a:alpha val="6784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F60B9EE-BB36-AB92-1E09-9532FC245425}"/>
                </a:ext>
              </a:extLst>
            </p:cNvPr>
            <p:cNvSpPr/>
            <p:nvPr/>
          </p:nvSpPr>
          <p:spPr>
            <a:xfrm>
              <a:off x="9387124" y="1004252"/>
              <a:ext cx="2067655" cy="2067655"/>
            </a:xfrm>
            <a:prstGeom prst="ellipse">
              <a:avLst/>
            </a:prstGeom>
            <a:solidFill>
              <a:srgbClr val="95EECE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DADEF21-3F64-DBCD-4E8B-585715A5B238}"/>
                </a:ext>
              </a:extLst>
            </p:cNvPr>
            <p:cNvSpPr/>
            <p:nvPr/>
          </p:nvSpPr>
          <p:spPr>
            <a:xfrm>
              <a:off x="6070494" y="1381645"/>
              <a:ext cx="1915531" cy="1915531"/>
            </a:xfrm>
            <a:prstGeom prst="ellipse">
              <a:avLst/>
            </a:prstGeom>
            <a:solidFill>
              <a:srgbClr val="C8E3ED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7E68BFC-A855-4E56-0999-40C07CE7AA00}"/>
                </a:ext>
              </a:extLst>
            </p:cNvPr>
            <p:cNvSpPr/>
            <p:nvPr/>
          </p:nvSpPr>
          <p:spPr>
            <a:xfrm>
              <a:off x="6018274" y="231262"/>
              <a:ext cx="1545979" cy="1545979"/>
            </a:xfrm>
            <a:prstGeom prst="ellipse">
              <a:avLst/>
            </a:prstGeom>
            <a:solidFill>
              <a:srgbClr val="EE41DE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FA86416-C81F-AB16-7F3D-2DD99FD7FD9C}"/>
                </a:ext>
              </a:extLst>
            </p:cNvPr>
            <p:cNvSpPr/>
            <p:nvPr/>
          </p:nvSpPr>
          <p:spPr>
            <a:xfrm>
              <a:off x="3106358" y="321953"/>
              <a:ext cx="1915531" cy="1915531"/>
            </a:xfrm>
            <a:prstGeom prst="ellipse">
              <a:avLst/>
            </a:prstGeom>
            <a:solidFill>
              <a:srgbClr val="C8E3ED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1D96533-E867-588E-62B2-8485C7318BB5}"/>
                </a:ext>
              </a:extLst>
            </p:cNvPr>
            <p:cNvSpPr/>
            <p:nvPr/>
          </p:nvSpPr>
          <p:spPr>
            <a:xfrm>
              <a:off x="4155043" y="1566420"/>
              <a:ext cx="1545979" cy="1545979"/>
            </a:xfrm>
            <a:prstGeom prst="ellipse">
              <a:avLst/>
            </a:prstGeom>
            <a:solidFill>
              <a:srgbClr val="EE41DE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8760E3EB-3EEC-8A60-26C7-A3BF36161254}"/>
              </a:ext>
            </a:extLst>
          </p:cNvPr>
          <p:cNvSpPr/>
          <p:nvPr/>
        </p:nvSpPr>
        <p:spPr>
          <a:xfrm>
            <a:off x="1755851" y="2725662"/>
            <a:ext cx="694330" cy="697361"/>
          </a:xfrm>
          <a:prstGeom prst="ellipse">
            <a:avLst/>
          </a:prstGeom>
          <a:solidFill>
            <a:srgbClr val="CCF7E7">
              <a:alpha val="6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3A230D-C00F-09E0-2ED1-C169D3FE6ED7}"/>
              </a:ext>
            </a:extLst>
          </p:cNvPr>
          <p:cNvSpPr txBox="1">
            <a:spLocks/>
          </p:cNvSpPr>
          <p:nvPr/>
        </p:nvSpPr>
        <p:spPr>
          <a:xfrm>
            <a:off x="6810365" y="384875"/>
            <a:ext cx="4986374" cy="310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1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Strictly Private &amp; Confidential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AE3583-5A75-331F-E783-AC85C47E4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6648"/>
            <a:ext cx="12192000" cy="36576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5BF47F13-F6BC-ADE2-B0CD-A0FE3F1CB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0060" y="296989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GB" sz="4000" dirty="0">
                <a:latin typeface="Ubuntu" panose="020B0504030602030204" pitchFamily="34" charset="0"/>
                <a:cs typeface="Calibri" panose="020F0502020204030204" pitchFamily="34" charset="0"/>
              </a:rPr>
              <a:t>Genesis1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8B008B3-F358-B137-236C-AFD7FC730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0365" y="3618449"/>
            <a:ext cx="4986374" cy="1423452"/>
          </a:xfrm>
        </p:spPr>
        <p:txBody>
          <a:bodyPr anchor="b">
            <a:normAutofit/>
          </a:bodyPr>
          <a:lstStyle/>
          <a:p>
            <a:pPr algn="l">
              <a:spcBef>
                <a:spcPts val="0"/>
              </a:spcBef>
            </a:pPr>
            <a:r>
              <a:rPr lang="en-GB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Pricks, Just Scans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16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Development By EDGE Agentic Labs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GB" sz="16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https://genesis1v1.com</a:t>
            </a:r>
            <a:endParaRPr lang="en-GB" sz="1600" i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en-GB" sz="1600" i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GB" sz="16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DSA CASE COMPETITION</a:t>
            </a:r>
          </a:p>
        </p:txBody>
      </p:sp>
    </p:spTree>
    <p:extLst>
      <p:ext uri="{BB962C8B-B14F-4D97-AF65-F5344CB8AC3E}">
        <p14:creationId xmlns:p14="http://schemas.microsoft.com/office/powerpoint/2010/main" val="5971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B518137-23DF-483C-1AD0-80E36BF123D9}"/>
              </a:ext>
            </a:extLst>
          </p:cNvPr>
          <p:cNvSpPr txBox="1">
            <a:spLocks/>
          </p:cNvSpPr>
          <p:nvPr/>
        </p:nvSpPr>
        <p:spPr>
          <a:xfrm>
            <a:off x="504702" y="1350786"/>
            <a:ext cx="11232214" cy="4544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800" b="1" u="sng" dirty="0">
                <a:latin typeface="Calibri" panose="020F0502020204030204" pitchFamily="34" charset="0"/>
                <a:cs typeface="Calibri" panose="020F0502020204030204" pitchFamily="34" charset="0"/>
              </a:rPr>
              <a:t>Goal</a:t>
            </a:r>
          </a:p>
          <a:p>
            <a:pPr algn="l"/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Build a proprietary algorithm that estimates haemoglobin reading (“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HgB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”) from lip images and metadata with ≤ 0.8 g/dL MAE while remaining robust across devices, lighting and skin tones.</a:t>
            </a:r>
          </a:p>
          <a:p>
            <a:pPr algn="l"/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SG" sz="1800" b="1" u="sng" dirty="0">
                <a:latin typeface="Calibri" panose="020F0502020204030204" pitchFamily="34" charset="0"/>
                <a:cs typeface="Calibri" panose="020F0502020204030204" pitchFamily="34" charset="0"/>
              </a:rPr>
              <a:t>Problem &amp; Success Criteria</a:t>
            </a: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Input: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Front-facing smartphone lip images (+ optional device/lighting metadata)</a:t>
            </a: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Output: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Predicted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HgB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(g/dL), one value per image</a:t>
            </a: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Primary metric (Leaderboard):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MAE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on a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hidden test set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Win threshold (goal):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MAE ≤ 0.8 g/dL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(current baseline ≈ 1.8 g/dL)</a:t>
            </a: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Tiebreakers: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(1) RMSE, (2) mean bias (|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error|), (3) throughput (images/sec on reference GPU/CPU), (4) model size</a:t>
            </a:r>
          </a:p>
          <a:p>
            <a:pPr algn="l"/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B4DEDB-FCDD-B9CD-7970-537018B6D6E0}"/>
              </a:ext>
            </a:extLst>
          </p:cNvPr>
          <p:cNvSpPr txBox="1">
            <a:spLocks/>
          </p:cNvSpPr>
          <p:nvPr/>
        </p:nvSpPr>
        <p:spPr>
          <a:xfrm>
            <a:off x="455084" y="395360"/>
            <a:ext cx="9144000" cy="867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800" dirty="0">
                <a:latin typeface="Ubuntu" panose="020B0504030602030204" pitchFamily="34" charset="0"/>
                <a:cs typeface="Calibri" panose="020F0502020204030204" pitchFamily="34" charset="0"/>
              </a:rPr>
              <a:t>Case Competition Briefing</a:t>
            </a:r>
          </a:p>
        </p:txBody>
      </p:sp>
    </p:spTree>
    <p:extLst>
      <p:ext uri="{BB962C8B-B14F-4D97-AF65-F5344CB8AC3E}">
        <p14:creationId xmlns:p14="http://schemas.microsoft.com/office/powerpoint/2010/main" val="3082985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0F42-D332-7887-A726-F93AE854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F269EEE-BE4F-14EC-10E3-8657905EB0C0}"/>
              </a:ext>
            </a:extLst>
          </p:cNvPr>
          <p:cNvSpPr txBox="1">
            <a:spLocks/>
          </p:cNvSpPr>
          <p:nvPr/>
        </p:nvSpPr>
        <p:spPr>
          <a:xfrm>
            <a:off x="504702" y="1350786"/>
            <a:ext cx="11232214" cy="5326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800" b="1" u="sng" dirty="0">
                <a:latin typeface="Calibri" panose="020F0502020204030204" pitchFamily="34" charset="0"/>
                <a:cs typeface="Calibri" panose="020F0502020204030204" pitchFamily="34" charset="0"/>
              </a:rPr>
              <a:t>What You Will Receive:</a:t>
            </a: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A total of 30 data sets comprising </a:t>
            </a: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Train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N_train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lip crops + labels (Hgb), stratified by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lighting class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Fitzpatrick I–VI proxy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gender/age bands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Metadata (only when applicable, available):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device model, focal length eq., exposure category, white balance, ISO bucket, capture distance band, ambient light class (bright/indoor/warm/cool), timestamp band.</a:t>
            </a:r>
          </a:p>
          <a:p>
            <a:pPr algn="l"/>
            <a:endParaRPr lang="en-SG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SG" sz="1800" b="1" u="sng" dirty="0">
                <a:latin typeface="Calibri" panose="020F0502020204030204" pitchFamily="34" charset="0"/>
                <a:cs typeface="Calibri" panose="020F0502020204030204" pitchFamily="34" charset="0"/>
              </a:rPr>
              <a:t>File Naming Convention &amp; Schema:</a:t>
            </a:r>
            <a:endParaRPr lang="en-SG" sz="18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image_id.jpg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meta.csv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image_id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device_id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device_brand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device_model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iso_bucket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exposure_bucket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wb_bucket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ambient_light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distance_band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skin_tone_proxy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age_band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gender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labels.csv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image_id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hgb</a:t>
            </a:r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SG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SG" sz="1800" i="1" dirty="0">
                <a:latin typeface="Calibri" panose="020F0502020204030204" pitchFamily="34" charset="0"/>
                <a:cs typeface="Calibri" panose="020F0502020204030204" pitchFamily="34" charset="0"/>
              </a:rPr>
              <a:t>Note: No faces—only mouth/lip region crops. All PHI removed. Participants are not to attempt re-identification.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F64D934-D010-081F-54E0-5C56155E9E58}"/>
              </a:ext>
            </a:extLst>
          </p:cNvPr>
          <p:cNvSpPr txBox="1">
            <a:spLocks/>
          </p:cNvSpPr>
          <p:nvPr/>
        </p:nvSpPr>
        <p:spPr>
          <a:xfrm>
            <a:off x="455084" y="395360"/>
            <a:ext cx="9144000" cy="867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800" dirty="0">
                <a:latin typeface="Ubuntu" panose="020B0504030602030204" pitchFamily="34" charset="0"/>
                <a:cs typeface="Calibri" panose="020F0502020204030204" pitchFamily="34" charset="0"/>
              </a:rPr>
              <a:t>Case Competition Briefing</a:t>
            </a:r>
          </a:p>
        </p:txBody>
      </p:sp>
    </p:spTree>
    <p:extLst>
      <p:ext uri="{BB962C8B-B14F-4D97-AF65-F5344CB8AC3E}">
        <p14:creationId xmlns:p14="http://schemas.microsoft.com/office/powerpoint/2010/main" val="2913578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6916-F6F4-ECCE-48E7-171FC8FB3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2AB1C87C-F5FB-22C1-D322-9641BFEA62BE}"/>
              </a:ext>
            </a:extLst>
          </p:cNvPr>
          <p:cNvSpPr txBox="1">
            <a:spLocks/>
          </p:cNvSpPr>
          <p:nvPr/>
        </p:nvSpPr>
        <p:spPr>
          <a:xfrm>
            <a:off x="504702" y="1350786"/>
            <a:ext cx="11232214" cy="5326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800" b="1" u="sng" dirty="0">
                <a:latin typeface="Calibri" panose="020F0502020204030204" pitchFamily="34" charset="0"/>
                <a:cs typeface="Calibri" panose="020F0502020204030204" pitchFamily="34" charset="0"/>
              </a:rPr>
              <a:t>Competition Rules </a:t>
            </a: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Originality: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All code/models must be your own or properly licensed (MIT/Apache-2.0/BSD), no training on private patient data you don’t have rights to.</a:t>
            </a:r>
          </a:p>
          <a:p>
            <a:pPr algn="l"/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External data: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Allowed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only if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openly licensed and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declared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in your report; must be shareable for audit.</a:t>
            </a:r>
          </a:p>
          <a:p>
            <a:pPr algn="l"/>
            <a:r>
              <a:rPr lang="en-SG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Ensembling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Allowed; disclose components.</a:t>
            </a:r>
          </a:p>
          <a:p>
            <a:pPr algn="l"/>
            <a:endParaRPr lang="en-SG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SG" sz="1800" b="1" u="sng" dirty="0">
                <a:latin typeface="Calibri" panose="020F0502020204030204" pitchFamily="34" charset="0"/>
                <a:cs typeface="Calibri" panose="020F0502020204030204" pitchFamily="34" charset="0"/>
              </a:rPr>
              <a:t>EDGE Agentic Labs’ Intellectual Property</a:t>
            </a:r>
            <a:endParaRPr lang="en-SG" sz="18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Confidentiality: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Private sets remain confidential; models may be audited for leakage.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Medical Safety: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The algorithm is </a:t>
            </a:r>
            <a:r>
              <a:rPr lang="en-SG" sz="1800" b="1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 a diagnostic device. Outputs are for research. No clinical claims.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7AC34F0-EF11-C4FC-D48C-B56B4288115D}"/>
              </a:ext>
            </a:extLst>
          </p:cNvPr>
          <p:cNvSpPr txBox="1">
            <a:spLocks/>
          </p:cNvSpPr>
          <p:nvPr/>
        </p:nvSpPr>
        <p:spPr>
          <a:xfrm>
            <a:off x="455084" y="395360"/>
            <a:ext cx="9144000" cy="867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800" dirty="0">
                <a:latin typeface="Ubuntu" panose="020B0504030602030204" pitchFamily="34" charset="0"/>
                <a:cs typeface="Calibri" panose="020F0502020204030204" pitchFamily="34" charset="0"/>
              </a:rPr>
              <a:t>Case Competition Briefing</a:t>
            </a:r>
          </a:p>
        </p:txBody>
      </p:sp>
    </p:spTree>
    <p:extLst>
      <p:ext uri="{BB962C8B-B14F-4D97-AF65-F5344CB8AC3E}">
        <p14:creationId xmlns:p14="http://schemas.microsoft.com/office/powerpoint/2010/main" val="233269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2765B-A13A-463A-B246-85D948AEA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59C15DD3-9EB8-F297-C542-D8851453AD67}"/>
              </a:ext>
            </a:extLst>
          </p:cNvPr>
          <p:cNvSpPr txBox="1">
            <a:spLocks/>
          </p:cNvSpPr>
          <p:nvPr/>
        </p:nvSpPr>
        <p:spPr>
          <a:xfrm>
            <a:off x="504702" y="1350786"/>
            <a:ext cx="11232214" cy="5326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1900" b="1" u="sng" dirty="0">
                <a:latin typeface="Calibri" panose="020F0502020204030204" pitchFamily="34" charset="0"/>
                <a:cs typeface="Calibri" panose="020F0502020204030204" pitchFamily="34" charset="0"/>
              </a:rPr>
              <a:t>Tracks</a:t>
            </a:r>
          </a:p>
          <a:p>
            <a:pPr algn="l"/>
            <a:r>
              <a:rPr lang="en-SG" sz="1900" b="1" dirty="0">
                <a:latin typeface="Calibri" panose="020F0502020204030204" pitchFamily="34" charset="0"/>
                <a:cs typeface="Calibri" panose="020F0502020204030204" pitchFamily="34" charset="0"/>
              </a:rPr>
              <a:t>Accuracy: 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Maximise accuracy with ≤ 50 MB model</a:t>
            </a:r>
          </a:p>
          <a:p>
            <a:pPr algn="l"/>
            <a:r>
              <a:rPr lang="en-SG" sz="1900" b="1" dirty="0">
                <a:latin typeface="Calibri" panose="020F0502020204030204" pitchFamily="34" charset="0"/>
                <a:cs typeface="Calibri" panose="020F0502020204030204" pitchFamily="34" charset="0"/>
              </a:rPr>
              <a:t>Edge-Lite Track: 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≤ 10 MB model, no GPU at inference, ≤ 100 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ms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/image CPU</a:t>
            </a:r>
          </a:p>
          <a:p>
            <a:pPr algn="l"/>
            <a:r>
              <a:rPr lang="en-SG" sz="1900" b="1" dirty="0">
                <a:latin typeface="Calibri" panose="020F0502020204030204" pitchFamily="34" charset="0"/>
                <a:cs typeface="Calibri" panose="020F0502020204030204" pitchFamily="34" charset="0"/>
              </a:rPr>
              <a:t>Generalisation Bonus: 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Extra points for minimal performance drop on Test B (OOD)</a:t>
            </a:r>
          </a:p>
          <a:p>
            <a:pPr algn="l"/>
            <a:endParaRPr lang="en-SG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SG" sz="1900" b="1" u="sng" dirty="0">
                <a:latin typeface="Calibri" panose="020F0502020204030204" pitchFamily="34" charset="0"/>
                <a:cs typeface="Calibri" panose="020F0502020204030204" pitchFamily="34" charset="0"/>
              </a:rPr>
              <a:t>Submission Bundle (.zip/.tar)</a:t>
            </a:r>
            <a:endParaRPr lang="en-SG" sz="19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/code (training + inference scripts; deterministic seeds)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/weights (final model; ONNX or 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TorchScript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 + version)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requirements.txt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environment.yml</a:t>
            </a:r>
            <a:endParaRPr lang="en-SG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inference.py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 → predict(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images_dir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meta_csv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) -&gt; 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predictions.csv</a:t>
            </a:r>
            <a:endParaRPr lang="en-SG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model_card.md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 (see template below)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report.pdf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 (≤ 8 pages): approach, data usage, augmentation, model, loss, calibration, error analysis, fairness, ablations, compute cost, failure modes, and next steps</a:t>
            </a:r>
          </a:p>
          <a:p>
            <a:pPr algn="l"/>
            <a:r>
              <a:rPr lang="en-SG" sz="1900" b="1" dirty="0">
                <a:latin typeface="Calibri" panose="020F0502020204030204" pitchFamily="34" charset="0"/>
                <a:cs typeface="Calibri" panose="020F0502020204030204" pitchFamily="34" charset="0"/>
              </a:rPr>
              <a:t>Reproducibility: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 One-command run: python 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inference.py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 --images &lt;path&gt; --meta 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meta.csv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 --out </a:t>
            </a:r>
            <a:r>
              <a:rPr lang="en-SG" sz="1900" dirty="0" err="1">
                <a:latin typeface="Calibri" panose="020F0502020204030204" pitchFamily="34" charset="0"/>
                <a:cs typeface="Calibri" panose="020F0502020204030204" pitchFamily="34" charset="0"/>
              </a:rPr>
              <a:t>preds.csv</a:t>
            </a:r>
            <a:r>
              <a:rPr lang="en-SG" sz="1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lang="en-SG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752F47-D1FC-7CA2-40C5-CCB626571D4F}"/>
              </a:ext>
            </a:extLst>
          </p:cNvPr>
          <p:cNvSpPr txBox="1">
            <a:spLocks/>
          </p:cNvSpPr>
          <p:nvPr/>
        </p:nvSpPr>
        <p:spPr>
          <a:xfrm>
            <a:off x="455084" y="395360"/>
            <a:ext cx="9144000" cy="8670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4800" dirty="0">
                <a:latin typeface="Ubuntu" panose="020B0504030602030204" pitchFamily="34" charset="0"/>
                <a:cs typeface="Calibri" panose="020F0502020204030204" pitchFamily="34" charset="0"/>
              </a:rPr>
              <a:t>Case Competition Briefing</a:t>
            </a:r>
          </a:p>
        </p:txBody>
      </p:sp>
    </p:spTree>
    <p:extLst>
      <p:ext uri="{BB962C8B-B14F-4D97-AF65-F5344CB8AC3E}">
        <p14:creationId xmlns:p14="http://schemas.microsoft.com/office/powerpoint/2010/main" val="4241813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F47F-AF84-F3A1-1531-1D6D4D23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83D6DE-5003-C3D4-90AC-298D10CE5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702" y="1206407"/>
            <a:ext cx="11232214" cy="706662"/>
          </a:xfrm>
        </p:spPr>
        <p:txBody>
          <a:bodyPr>
            <a:normAutofit/>
          </a:bodyPr>
          <a:lstStyle/>
          <a:p>
            <a:pPr algn="l"/>
            <a:r>
              <a:rPr lang="en-SG" sz="1800" dirty="0">
                <a:latin typeface="Calibri" panose="020F0502020204030204" pitchFamily="34" charset="0"/>
                <a:cs typeface="Calibri" panose="020F0502020204030204" pitchFamily="34" charset="0"/>
              </a:rPr>
              <a:t>The functional version of Genesis 1’s PWA predictions is consistent with clinical findings. The solution is available for end-user testing and commenting. A commercial version will only be made available upon approval by HSA.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40C3FA-7018-2067-E7F4-548A68950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084" y="395360"/>
            <a:ext cx="9144000" cy="867075"/>
          </a:xfrm>
        </p:spPr>
        <p:txBody>
          <a:bodyPr>
            <a:normAutofit/>
          </a:bodyPr>
          <a:lstStyle/>
          <a:p>
            <a:pPr algn="l"/>
            <a:r>
              <a:rPr lang="en-GB" sz="4800" dirty="0">
                <a:latin typeface="Ubuntu" panose="020B0504030602030204" pitchFamily="34" charset="0"/>
                <a:cs typeface="Calibri" panose="020F0502020204030204" pitchFamily="34" charset="0"/>
              </a:rPr>
              <a:t>Moving Towards An MVP Phase</a:t>
            </a:r>
          </a:p>
        </p:txBody>
      </p:sp>
      <p:cxnSp>
        <p:nvCxnSpPr>
          <p:cNvPr id="14" name="Google Shape;346;p10">
            <a:extLst>
              <a:ext uri="{FF2B5EF4-FFF2-40B4-BE49-F238E27FC236}">
                <a16:creationId xmlns:a16="http://schemas.microsoft.com/office/drawing/2014/main" id="{B3D72563-FCD6-438D-3A1C-9C5606E2B870}"/>
              </a:ext>
            </a:extLst>
          </p:cNvPr>
          <p:cNvCxnSpPr>
            <a:cxnSpLocks/>
          </p:cNvCxnSpPr>
          <p:nvPr/>
        </p:nvCxnSpPr>
        <p:spPr>
          <a:xfrm>
            <a:off x="1049558" y="2255038"/>
            <a:ext cx="10092884" cy="0"/>
          </a:xfrm>
          <a:prstGeom prst="straightConnector1">
            <a:avLst/>
          </a:prstGeom>
          <a:noFill/>
          <a:ln w="9525" cap="rnd" cmpd="sng">
            <a:solidFill>
              <a:srgbClr val="6332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73;p3">
            <a:extLst>
              <a:ext uri="{FF2B5EF4-FFF2-40B4-BE49-F238E27FC236}">
                <a16:creationId xmlns:a16="http://schemas.microsoft.com/office/drawing/2014/main" id="{02BDB722-5C5B-A26B-10A2-7671E71D6718}"/>
              </a:ext>
            </a:extLst>
          </p:cNvPr>
          <p:cNvSpPr/>
          <p:nvPr/>
        </p:nvSpPr>
        <p:spPr>
          <a:xfrm>
            <a:off x="2070003" y="2108715"/>
            <a:ext cx="299811" cy="299811"/>
          </a:xfrm>
          <a:prstGeom prst="ellipse">
            <a:avLst/>
          </a:prstGeom>
          <a:solidFill>
            <a:srgbClr val="6332BA"/>
          </a:solidFill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75;p3">
            <a:extLst>
              <a:ext uri="{FF2B5EF4-FFF2-40B4-BE49-F238E27FC236}">
                <a16:creationId xmlns:a16="http://schemas.microsoft.com/office/drawing/2014/main" id="{8061217F-822C-67E5-12B6-7DE66CD218D0}"/>
              </a:ext>
            </a:extLst>
          </p:cNvPr>
          <p:cNvSpPr/>
          <p:nvPr/>
        </p:nvSpPr>
        <p:spPr>
          <a:xfrm>
            <a:off x="4432253" y="2128631"/>
            <a:ext cx="299811" cy="299811"/>
          </a:xfrm>
          <a:prstGeom prst="ellipse">
            <a:avLst/>
          </a:prstGeom>
          <a:solidFill>
            <a:srgbClr val="6332BA"/>
          </a:solidFill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6;p3">
            <a:extLst>
              <a:ext uri="{FF2B5EF4-FFF2-40B4-BE49-F238E27FC236}">
                <a16:creationId xmlns:a16="http://schemas.microsoft.com/office/drawing/2014/main" id="{9C9C65D0-D464-63FD-7F5B-BF005732ED26}"/>
              </a:ext>
            </a:extLst>
          </p:cNvPr>
          <p:cNvSpPr/>
          <p:nvPr/>
        </p:nvSpPr>
        <p:spPr>
          <a:xfrm>
            <a:off x="6848525" y="2121569"/>
            <a:ext cx="299811" cy="299811"/>
          </a:xfrm>
          <a:prstGeom prst="ellipse">
            <a:avLst/>
          </a:prstGeom>
          <a:solidFill>
            <a:srgbClr val="6332BA"/>
          </a:solidFill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77;p3">
            <a:extLst>
              <a:ext uri="{FF2B5EF4-FFF2-40B4-BE49-F238E27FC236}">
                <a16:creationId xmlns:a16="http://schemas.microsoft.com/office/drawing/2014/main" id="{3EDEABBD-7034-C4A3-96F1-85961EC21376}"/>
              </a:ext>
            </a:extLst>
          </p:cNvPr>
          <p:cNvSpPr/>
          <p:nvPr/>
        </p:nvSpPr>
        <p:spPr>
          <a:xfrm>
            <a:off x="9352173" y="2125249"/>
            <a:ext cx="299811" cy="299811"/>
          </a:xfrm>
          <a:prstGeom prst="ellipse">
            <a:avLst/>
          </a:prstGeom>
          <a:solidFill>
            <a:srgbClr val="6332BA"/>
          </a:solidFill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ACD5E6-9138-7CA8-6749-8C01F7208320}"/>
              </a:ext>
            </a:extLst>
          </p:cNvPr>
          <p:cNvSpPr txBox="1"/>
          <p:nvPr/>
        </p:nvSpPr>
        <p:spPr>
          <a:xfrm>
            <a:off x="1698913" y="1844570"/>
            <a:ext cx="1041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Step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523414-8AAC-9DB1-9145-EDBCD3A15667}"/>
              </a:ext>
            </a:extLst>
          </p:cNvPr>
          <p:cNvSpPr txBox="1"/>
          <p:nvPr/>
        </p:nvSpPr>
        <p:spPr>
          <a:xfrm>
            <a:off x="4121580" y="1857740"/>
            <a:ext cx="1041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Step 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C0C75D-D30B-B1A0-CDFF-AEAA4110D7B8}"/>
              </a:ext>
            </a:extLst>
          </p:cNvPr>
          <p:cNvSpPr txBox="1"/>
          <p:nvPr/>
        </p:nvSpPr>
        <p:spPr>
          <a:xfrm>
            <a:off x="6510166" y="1885405"/>
            <a:ext cx="1041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Step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467A9E-0B95-CC8C-A32C-1215A147D6BF}"/>
              </a:ext>
            </a:extLst>
          </p:cNvPr>
          <p:cNvSpPr txBox="1"/>
          <p:nvPr/>
        </p:nvSpPr>
        <p:spPr>
          <a:xfrm>
            <a:off x="8981083" y="1878554"/>
            <a:ext cx="1041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Step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9A930D-5F60-948B-82D7-6221080D3815}"/>
              </a:ext>
            </a:extLst>
          </p:cNvPr>
          <p:cNvSpPr txBox="1"/>
          <p:nvPr/>
        </p:nvSpPr>
        <p:spPr>
          <a:xfrm>
            <a:off x="572889" y="1823913"/>
            <a:ext cx="1194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i="1" dirty="0">
                <a:latin typeface="Calibri" panose="020F0502020204030204" pitchFamily="34" charset="0"/>
                <a:cs typeface="Calibri" panose="020F0502020204030204" pitchFamily="34" charset="0"/>
              </a:rPr>
              <a:t>User Journey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857C2AA-3512-E45A-80C3-51AE7F9D1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655" y="2476708"/>
            <a:ext cx="1879005" cy="40764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33FF84-E0EB-8F05-1BB4-BC176CBA3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1659" y="2476708"/>
            <a:ext cx="1879003" cy="40764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5" name="Picture 3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ECFF872-D519-BC8F-F019-E1C7E5510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724" y="2463538"/>
            <a:ext cx="1879003" cy="40764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8" name="Picture 3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6537E66-BED2-2536-0CDB-426C5FFBC3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835" y="2517694"/>
            <a:ext cx="1879003" cy="40764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826230-5034-C322-C249-7CE6EA19AF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1457" y="4536517"/>
            <a:ext cx="3114957" cy="140488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1E82C63-5AA9-F8B6-E893-4D05EE75B808}"/>
              </a:ext>
            </a:extLst>
          </p:cNvPr>
          <p:cNvGrpSpPr/>
          <p:nvPr/>
        </p:nvGrpSpPr>
        <p:grpSpPr>
          <a:xfrm>
            <a:off x="5734210" y="5331271"/>
            <a:ext cx="1277247" cy="1277247"/>
            <a:chOff x="234719" y="3177832"/>
            <a:chExt cx="1767100" cy="17671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0F512EC-C468-C5D8-4F44-49D44D5E2C98}"/>
                </a:ext>
              </a:extLst>
            </p:cNvPr>
            <p:cNvSpPr/>
            <p:nvPr/>
          </p:nvSpPr>
          <p:spPr>
            <a:xfrm>
              <a:off x="234719" y="3177832"/>
              <a:ext cx="1767100" cy="1767100"/>
            </a:xfrm>
            <a:prstGeom prst="ellipse">
              <a:avLst/>
            </a:prstGeom>
            <a:solidFill>
              <a:srgbClr val="9D2BC7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51D5D4-6DCC-AF28-0CD3-D62135918EEF}"/>
                </a:ext>
              </a:extLst>
            </p:cNvPr>
            <p:cNvSpPr txBox="1"/>
            <p:nvPr/>
          </p:nvSpPr>
          <p:spPr>
            <a:xfrm>
              <a:off x="465093" y="3358938"/>
              <a:ext cx="1306350" cy="1490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75% </a:t>
              </a:r>
            </a:p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Prediction accuracy</a:t>
              </a:r>
            </a:p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(Aug ‘25)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6B88F5D-BD7A-3A1D-0B7B-D7D9D218F1F9}"/>
              </a:ext>
            </a:extLst>
          </p:cNvPr>
          <p:cNvGrpSpPr/>
          <p:nvPr/>
        </p:nvGrpSpPr>
        <p:grpSpPr>
          <a:xfrm>
            <a:off x="9695951" y="5262773"/>
            <a:ext cx="1277247" cy="1277247"/>
            <a:chOff x="234719" y="3177832"/>
            <a:chExt cx="1767100" cy="17671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13BCF9E-C36B-ABDA-9686-4173197999A5}"/>
                </a:ext>
              </a:extLst>
            </p:cNvPr>
            <p:cNvSpPr/>
            <p:nvPr/>
          </p:nvSpPr>
          <p:spPr>
            <a:xfrm>
              <a:off x="234719" y="3177832"/>
              <a:ext cx="1767100" cy="1767100"/>
            </a:xfrm>
            <a:prstGeom prst="ellipse">
              <a:avLst/>
            </a:prstGeom>
            <a:solidFill>
              <a:srgbClr val="9D2BC7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BFA0B7-3129-A69D-9148-EBC4B892386D}"/>
                </a:ext>
              </a:extLst>
            </p:cNvPr>
            <p:cNvSpPr txBox="1"/>
            <p:nvPr/>
          </p:nvSpPr>
          <p:spPr>
            <a:xfrm>
              <a:off x="474706" y="3370521"/>
              <a:ext cx="1306350" cy="1490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95% </a:t>
              </a:r>
            </a:p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Prediction accuracy</a:t>
              </a:r>
            </a:p>
            <a:p>
              <a:pPr algn="ctr"/>
              <a:r>
                <a:rPr lang="en-GB" sz="12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(Nov ‘25)</a:t>
              </a: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CEB92D7-66BB-C8A8-B9EF-DCEAE90901F3}"/>
              </a:ext>
            </a:extLst>
          </p:cNvPr>
          <p:cNvCxnSpPr/>
          <p:nvPr/>
        </p:nvCxnSpPr>
        <p:spPr>
          <a:xfrm>
            <a:off x="7011457" y="6000819"/>
            <a:ext cx="2879831" cy="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669F4F6-7C02-72B0-70F6-65230786DF5E}"/>
              </a:ext>
            </a:extLst>
          </p:cNvPr>
          <p:cNvSpPr txBox="1"/>
          <p:nvPr/>
        </p:nvSpPr>
        <p:spPr>
          <a:xfrm>
            <a:off x="10485966" y="3846803"/>
            <a:ext cx="15903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SG" sz="1200" dirty="0">
                <a:latin typeface="Calibri" panose="020F0502020204030204" pitchFamily="34" charset="0"/>
                <a:cs typeface="Calibri" panose="020F0502020204030204" pitchFamily="34" charset="0"/>
              </a:rPr>
              <a:t>To move Genesis1 into commercialisation, massive data is required to train the algorithm to achieve a 97 – 98, 99% accuracy rate.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B1C0713-13CA-1C84-FB8A-C63A22E72065}"/>
              </a:ext>
            </a:extLst>
          </p:cNvPr>
          <p:cNvCxnSpPr/>
          <p:nvPr/>
        </p:nvCxnSpPr>
        <p:spPr>
          <a:xfrm>
            <a:off x="7626694" y="2686164"/>
            <a:ext cx="988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B473DC-073B-042C-67A8-6A40B9E320D3}"/>
              </a:ext>
            </a:extLst>
          </p:cNvPr>
          <p:cNvCxnSpPr>
            <a:cxnSpLocks/>
          </p:cNvCxnSpPr>
          <p:nvPr/>
        </p:nvCxnSpPr>
        <p:spPr>
          <a:xfrm>
            <a:off x="7146210" y="3322194"/>
            <a:ext cx="1192028" cy="1192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0303CF4-97E9-6478-1CB9-7EFE86F5EE15}"/>
              </a:ext>
            </a:extLst>
          </p:cNvPr>
          <p:cNvSpPr/>
          <p:nvPr/>
        </p:nvSpPr>
        <p:spPr>
          <a:xfrm>
            <a:off x="7629994" y="3089728"/>
            <a:ext cx="1192028" cy="1066157"/>
          </a:xfrm>
          <a:prstGeom prst="roundRect">
            <a:avLst/>
          </a:prstGeom>
          <a:solidFill>
            <a:srgbClr val="6332BA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189C43-7E60-A847-ADC7-BE917E2857F7}"/>
              </a:ext>
            </a:extLst>
          </p:cNvPr>
          <p:cNvSpPr txBox="1"/>
          <p:nvPr/>
        </p:nvSpPr>
        <p:spPr>
          <a:xfrm>
            <a:off x="7625328" y="3117290"/>
            <a:ext cx="11920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(+/- 1.2 g/dl) accurate since my last donation in April</a:t>
            </a:r>
            <a:r>
              <a:rPr lang="en-GB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 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9D8FB6C-7F7A-D354-53E3-66C0848B8377}"/>
              </a:ext>
            </a:extLst>
          </p:cNvPr>
          <p:cNvSpPr txBox="1">
            <a:spLocks/>
          </p:cNvSpPr>
          <p:nvPr/>
        </p:nvSpPr>
        <p:spPr>
          <a:xfrm>
            <a:off x="6810365" y="384875"/>
            <a:ext cx="4986374" cy="310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1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Strictly Private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45319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58;p11">
            <a:extLst>
              <a:ext uri="{FF2B5EF4-FFF2-40B4-BE49-F238E27FC236}">
                <a16:creationId xmlns:a16="http://schemas.microsoft.com/office/drawing/2014/main" id="{BBE8C1CC-1F0E-7D62-3C43-9D1356E120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 dirty="0">
                <a:latin typeface="Ubuntu" panose="020B0504030602030204" pitchFamily="34" charset="0"/>
              </a:rPr>
              <a:t>EDGE Agentic Labs: Our Team</a:t>
            </a:r>
            <a:endParaRPr dirty="0">
              <a:latin typeface="Ubuntu" panose="020B0504030602030204" pitchFamily="34" charset="0"/>
            </a:endParaRPr>
          </a:p>
        </p:txBody>
      </p:sp>
      <p:sp>
        <p:nvSpPr>
          <p:cNvPr id="6" name="Google Shape;359;p11">
            <a:extLst>
              <a:ext uri="{FF2B5EF4-FFF2-40B4-BE49-F238E27FC236}">
                <a16:creationId xmlns:a16="http://schemas.microsoft.com/office/drawing/2014/main" id="{97E9423D-AD61-D3D2-0A4C-1343F3264FC2}"/>
              </a:ext>
            </a:extLst>
          </p:cNvPr>
          <p:cNvSpPr/>
          <p:nvPr/>
        </p:nvSpPr>
        <p:spPr>
          <a:xfrm>
            <a:off x="9199" y="1787479"/>
            <a:ext cx="12192000" cy="5100865"/>
          </a:xfrm>
          <a:prstGeom prst="rect">
            <a:avLst/>
          </a:prstGeom>
          <a:solidFill>
            <a:srgbClr val="9D2BC7">
              <a:alpha val="8784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366;p11">
            <a:extLst>
              <a:ext uri="{FF2B5EF4-FFF2-40B4-BE49-F238E27FC236}">
                <a16:creationId xmlns:a16="http://schemas.microsoft.com/office/drawing/2014/main" id="{93B61B1C-5A12-2E44-C322-F1865B15F03E}"/>
              </a:ext>
            </a:extLst>
          </p:cNvPr>
          <p:cNvSpPr txBox="1"/>
          <p:nvPr/>
        </p:nvSpPr>
        <p:spPr>
          <a:xfrm>
            <a:off x="646111" y="1101958"/>
            <a:ext cx="11081601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2"/>
              </a:buClr>
              <a:buSzPts val="1600"/>
            </a:pPr>
            <a:r>
              <a:rPr lang="en-US" dirty="0">
                <a:latin typeface="Calibri" panose="020F0502020204030204" pitchFamily="34" charset="0"/>
                <a:ea typeface="Century Gothic"/>
                <a:cs typeface="Calibri" panose="020F0502020204030204" pitchFamily="34" charset="0"/>
                <a:sym typeface="Century Gothic"/>
              </a:rPr>
              <a:t>We are a team of driven, crazy-minded, hands-on people who will get things done. </a:t>
            </a:r>
          </a:p>
        </p:txBody>
      </p:sp>
      <p:sp>
        <p:nvSpPr>
          <p:cNvPr id="27" name="Google Shape;360;p11">
            <a:extLst>
              <a:ext uri="{FF2B5EF4-FFF2-40B4-BE49-F238E27FC236}">
                <a16:creationId xmlns:a16="http://schemas.microsoft.com/office/drawing/2014/main" id="{A9B675CE-002A-7E3D-B5B2-6F4471F33708}"/>
              </a:ext>
            </a:extLst>
          </p:cNvPr>
          <p:cNvSpPr txBox="1"/>
          <p:nvPr/>
        </p:nvSpPr>
        <p:spPr>
          <a:xfrm>
            <a:off x="203409" y="4333646"/>
            <a:ext cx="3126317" cy="229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Cathy Joyce Tan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The Inventor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exCIMB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Bank, 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AVP, </a:t>
            </a: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Investor Relations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EMBA, SMU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Python Coder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Wanted to read an MBBS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NJC, </a:t>
            </a:r>
            <a:r>
              <a:rPr lang="en-US" sz="1100" i="1" dirty="0" err="1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Phy</a:t>
            </a:r>
            <a:r>
              <a:rPr lang="en-US" sz="1100" i="1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-Chem-Bio A</a:t>
            </a:r>
          </a:p>
          <a:p>
            <a:pPr algn="ctr"/>
            <a:r>
              <a:rPr lang="en-US" sz="1100" i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Fx</a:t>
            </a:r>
            <a:r>
              <a:rPr lang="en-US" sz="1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Blood Donor</a:t>
            </a:r>
            <a:endParaRPr sz="1100" i="1"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367;p11">
            <a:extLst>
              <a:ext uri="{FF2B5EF4-FFF2-40B4-BE49-F238E27FC236}">
                <a16:creationId xmlns:a16="http://schemas.microsoft.com/office/drawing/2014/main" id="{4E61562F-9EF6-860B-9AA7-7493DDB0BC01}"/>
              </a:ext>
            </a:extLst>
          </p:cNvPr>
          <p:cNvSpPr txBox="1"/>
          <p:nvPr/>
        </p:nvSpPr>
        <p:spPr>
          <a:xfrm>
            <a:off x="2926527" y="4313059"/>
            <a:ext cx="2066603" cy="2708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Kenneth Cheng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The Rainmaker</a:t>
            </a:r>
            <a:endParaRPr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Sales Director, </a:t>
            </a:r>
            <a:r>
              <a:rPr lang="en-US" sz="1400" dirty="0" err="1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Nuralogix</a:t>
            </a:r>
            <a:r>
              <a:rPr lang="en-US" sz="14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 </a:t>
            </a:r>
          </a:p>
          <a:p>
            <a:pPr algn="ctr"/>
            <a:r>
              <a:rPr lang="en-US" sz="1400" dirty="0" err="1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Basf</a:t>
            </a:r>
            <a:r>
              <a:rPr lang="en-US" sz="14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, Evonik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Air Liquide, Murata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Chemistry &amp; Materials Science 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Minor in Computing 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Chemistry, NUS</a:t>
            </a:r>
          </a:p>
          <a:p>
            <a:pPr algn="ctr"/>
            <a:r>
              <a:rPr lang="en-US" sz="1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Wanted to read an MBA</a:t>
            </a:r>
          </a:p>
          <a:p>
            <a:pPr algn="ctr"/>
            <a:r>
              <a:rPr lang="en-US" sz="1100" i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Fx</a:t>
            </a:r>
            <a:r>
              <a:rPr lang="en-US" sz="1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 Blood Donor</a:t>
            </a:r>
            <a:endParaRPr lang="en-US" sz="1100" i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4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Picture 28" descr="A person in a suit and tie&#10;&#10;AI-generated content may be incorrect.">
            <a:extLst>
              <a:ext uri="{FF2B5EF4-FFF2-40B4-BE49-F238E27FC236}">
                <a16:creationId xmlns:a16="http://schemas.microsoft.com/office/drawing/2014/main" id="{4F5BF1E9-2870-B9BF-5E8F-C4E61CD47E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94" r="8143" b="36052"/>
          <a:stretch>
            <a:fillRect/>
          </a:stretch>
        </p:blipFill>
        <p:spPr>
          <a:xfrm>
            <a:off x="3017191" y="2070714"/>
            <a:ext cx="1903589" cy="2265170"/>
          </a:xfrm>
          <a:prstGeom prst="rect">
            <a:avLst/>
          </a:prstGeom>
        </p:spPr>
      </p:pic>
      <p:sp>
        <p:nvSpPr>
          <p:cNvPr id="30" name="Google Shape;367;p11">
            <a:extLst>
              <a:ext uri="{FF2B5EF4-FFF2-40B4-BE49-F238E27FC236}">
                <a16:creationId xmlns:a16="http://schemas.microsoft.com/office/drawing/2014/main" id="{633EB55E-C401-A84E-E336-A123CBB4C991}"/>
              </a:ext>
            </a:extLst>
          </p:cNvPr>
          <p:cNvSpPr txBox="1"/>
          <p:nvPr/>
        </p:nvSpPr>
        <p:spPr>
          <a:xfrm>
            <a:off x="5172943" y="4332717"/>
            <a:ext cx="1953952" cy="215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Dr Matthew Cove</a:t>
            </a:r>
            <a:endParaRPr dirty="0">
              <a:solidFill>
                <a:schemeClr val="bg1"/>
              </a:solidFill>
            </a:endParaRPr>
          </a:p>
          <a:p>
            <a:pPr lvl="0" algn="ctr"/>
            <a:r>
              <a:rPr lang="en-US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The Doctor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Senior Consultant, Division of Respiratory &amp; Critical Care Medicine, Department of Medicine,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National University Hospital</a:t>
            </a:r>
          </a:p>
        </p:txBody>
      </p:sp>
      <p:sp>
        <p:nvSpPr>
          <p:cNvPr id="31" name="Google Shape;367;p11">
            <a:extLst>
              <a:ext uri="{FF2B5EF4-FFF2-40B4-BE49-F238E27FC236}">
                <a16:creationId xmlns:a16="http://schemas.microsoft.com/office/drawing/2014/main" id="{7DA82103-CB8C-9599-7219-3FAEC6BC0A85}"/>
              </a:ext>
            </a:extLst>
          </p:cNvPr>
          <p:cNvSpPr txBox="1"/>
          <p:nvPr/>
        </p:nvSpPr>
        <p:spPr>
          <a:xfrm>
            <a:off x="7389090" y="4437718"/>
            <a:ext cx="2066603" cy="2323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Dong </a:t>
            </a:r>
            <a:r>
              <a:rPr lang="en-US" sz="1800" dirty="0" err="1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Zhonghao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The Engineer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exBank</a:t>
            </a:r>
            <a:r>
              <a:rPr lang="en-US" sz="14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 of Communications, China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Application Developer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Msc</a:t>
            </a: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. Computer Science, NTU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Computer Science,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Sun Yat Sun University</a:t>
            </a:r>
          </a:p>
          <a:p>
            <a:pPr algn="ctr"/>
            <a:r>
              <a:rPr lang="en-US" sz="1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Wanted to go to MIT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38AFC24-1680-94C8-C872-7A9BB413DB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79"/>
          <a:stretch>
            <a:fillRect/>
          </a:stretch>
        </p:blipFill>
        <p:spPr>
          <a:xfrm>
            <a:off x="7673686" y="2070339"/>
            <a:ext cx="1538768" cy="2333141"/>
          </a:xfrm>
          <a:prstGeom prst="rect">
            <a:avLst/>
          </a:prstGeom>
        </p:spPr>
      </p:pic>
      <p:pic>
        <p:nvPicPr>
          <p:cNvPr id="3" name="Picture 2" descr="A person smiling for a selfie&#10;&#10;AI-generated content may be incorrect.">
            <a:extLst>
              <a:ext uri="{FF2B5EF4-FFF2-40B4-BE49-F238E27FC236}">
                <a16:creationId xmlns:a16="http://schemas.microsoft.com/office/drawing/2014/main" id="{917F3E98-84A4-5D3D-9B4C-99D76F194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506" y="2070339"/>
            <a:ext cx="1769646" cy="2242720"/>
          </a:xfrm>
          <a:prstGeom prst="rect">
            <a:avLst/>
          </a:prstGeom>
        </p:spPr>
      </p:pic>
      <p:pic>
        <p:nvPicPr>
          <p:cNvPr id="4" name="Picture 3" descr="A person with glasses smiling&#10;&#10;AI-generated content may be incorrect.">
            <a:extLst>
              <a:ext uri="{FF2B5EF4-FFF2-40B4-BE49-F238E27FC236}">
                <a16:creationId xmlns:a16="http://schemas.microsoft.com/office/drawing/2014/main" id="{F317F9FD-F570-7924-CDFF-CA2FCA908A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224385" y="2291541"/>
            <a:ext cx="1876019" cy="1876019"/>
          </a:xfrm>
          <a:prstGeom prst="rect">
            <a:avLst/>
          </a:prstGeom>
        </p:spPr>
      </p:pic>
      <p:sp>
        <p:nvSpPr>
          <p:cNvPr id="7" name="Google Shape;367;p11">
            <a:extLst>
              <a:ext uri="{FF2B5EF4-FFF2-40B4-BE49-F238E27FC236}">
                <a16:creationId xmlns:a16="http://schemas.microsoft.com/office/drawing/2014/main" id="{6D6171F7-00D2-00E3-8E14-0BAC7F921809}"/>
              </a:ext>
            </a:extLst>
          </p:cNvPr>
          <p:cNvSpPr txBox="1"/>
          <p:nvPr/>
        </p:nvSpPr>
        <p:spPr>
          <a:xfrm>
            <a:off x="9261483" y="4437718"/>
            <a:ext cx="2466229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cs typeface="Calibri"/>
                <a:sym typeface="Calibri"/>
              </a:rPr>
              <a:t>Gary Ang Yee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Advisor</a:t>
            </a:r>
          </a:p>
          <a:p>
            <a:pPr lvl="0" algn="ctr"/>
            <a:r>
              <a:rPr lang="en-SG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MBBS, MPH, NUS </a:t>
            </a:r>
          </a:p>
          <a:p>
            <a:pPr lvl="0" algn="ctr"/>
            <a:r>
              <a:rPr lang="en-SG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GDFM GDMH GDFP (Dermatology)</a:t>
            </a:r>
          </a:p>
          <a:p>
            <a:pPr lvl="0" algn="ctr"/>
            <a:r>
              <a:rPr lang="en-SG" sz="11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Wanted to enter Antler</a:t>
            </a:r>
            <a:endParaRPr lang="en-US" sz="1100" i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2" name="Picture 11" descr="A person in a suit&#10;&#10;AI-generated content may be incorrect.">
            <a:extLst>
              <a:ext uri="{FF2B5EF4-FFF2-40B4-BE49-F238E27FC236}">
                <a16:creationId xmlns:a16="http://schemas.microsoft.com/office/drawing/2014/main" id="{55E1C5C1-58A4-13B2-9F6D-7DE6993685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100" r="16470"/>
          <a:stretch>
            <a:fillRect/>
          </a:stretch>
        </p:blipFill>
        <p:spPr>
          <a:xfrm>
            <a:off x="9649902" y="2069657"/>
            <a:ext cx="1769646" cy="2328830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B57AAC6D-4B5F-2058-6038-AA2745F4CEF4}"/>
              </a:ext>
            </a:extLst>
          </p:cNvPr>
          <p:cNvSpPr txBox="1">
            <a:spLocks/>
          </p:cNvSpPr>
          <p:nvPr/>
        </p:nvSpPr>
        <p:spPr>
          <a:xfrm>
            <a:off x="6810365" y="384875"/>
            <a:ext cx="4986374" cy="310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1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Strictly Private &amp;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0E77-F0D9-E912-3B9F-BB157FB2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87DE457D-99CF-C335-6EDC-5C34F1C4EE62}"/>
              </a:ext>
            </a:extLst>
          </p:cNvPr>
          <p:cNvGrpSpPr/>
          <p:nvPr/>
        </p:nvGrpSpPr>
        <p:grpSpPr>
          <a:xfrm>
            <a:off x="2007493" y="7084479"/>
            <a:ext cx="4535463" cy="2139750"/>
            <a:chOff x="3106358" y="-624343"/>
            <a:chExt cx="8348421" cy="392151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5024F2E-A211-235F-905B-495689281394}"/>
                </a:ext>
              </a:extLst>
            </p:cNvPr>
            <p:cNvSpPr/>
            <p:nvPr/>
          </p:nvSpPr>
          <p:spPr>
            <a:xfrm>
              <a:off x="7028260" y="-388535"/>
              <a:ext cx="3201795" cy="3201795"/>
            </a:xfrm>
            <a:prstGeom prst="ellipse">
              <a:avLst/>
            </a:prstGeom>
            <a:solidFill>
              <a:srgbClr val="4E16B1">
                <a:alpha val="8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46F959D-0CF4-531B-7DBC-8EE3F594B231}"/>
                </a:ext>
              </a:extLst>
            </p:cNvPr>
            <p:cNvSpPr/>
            <p:nvPr/>
          </p:nvSpPr>
          <p:spPr>
            <a:xfrm>
              <a:off x="9325986" y="-624343"/>
              <a:ext cx="1887241" cy="1887241"/>
            </a:xfrm>
            <a:prstGeom prst="ellipse">
              <a:avLst/>
            </a:prstGeom>
            <a:solidFill>
              <a:srgbClr val="CCF7E7">
                <a:alpha val="6784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992CFC4-E591-5681-7E6D-F1BA1B6CA080}"/>
                </a:ext>
              </a:extLst>
            </p:cNvPr>
            <p:cNvSpPr/>
            <p:nvPr/>
          </p:nvSpPr>
          <p:spPr>
            <a:xfrm>
              <a:off x="9387124" y="1004252"/>
              <a:ext cx="2067655" cy="2067655"/>
            </a:xfrm>
            <a:prstGeom prst="ellipse">
              <a:avLst/>
            </a:prstGeom>
            <a:solidFill>
              <a:srgbClr val="95EECE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DD699BC-4515-5393-3D04-A3EC04213F57}"/>
                </a:ext>
              </a:extLst>
            </p:cNvPr>
            <p:cNvSpPr/>
            <p:nvPr/>
          </p:nvSpPr>
          <p:spPr>
            <a:xfrm>
              <a:off x="6070494" y="1381645"/>
              <a:ext cx="1915531" cy="1915531"/>
            </a:xfrm>
            <a:prstGeom prst="ellipse">
              <a:avLst/>
            </a:prstGeom>
            <a:solidFill>
              <a:srgbClr val="C8E3ED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90112DA-EECF-32CA-3E74-8A6EAC76E2DB}"/>
                </a:ext>
              </a:extLst>
            </p:cNvPr>
            <p:cNvSpPr/>
            <p:nvPr/>
          </p:nvSpPr>
          <p:spPr>
            <a:xfrm>
              <a:off x="6018274" y="231262"/>
              <a:ext cx="1545979" cy="1545979"/>
            </a:xfrm>
            <a:prstGeom prst="ellipse">
              <a:avLst/>
            </a:prstGeom>
            <a:solidFill>
              <a:srgbClr val="EE41DE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413DD7B-FB77-899A-8CDB-692D3F6ACDF4}"/>
                </a:ext>
              </a:extLst>
            </p:cNvPr>
            <p:cNvSpPr/>
            <p:nvPr/>
          </p:nvSpPr>
          <p:spPr>
            <a:xfrm>
              <a:off x="3106358" y="321953"/>
              <a:ext cx="1915531" cy="1915531"/>
            </a:xfrm>
            <a:prstGeom prst="ellipse">
              <a:avLst/>
            </a:prstGeom>
            <a:solidFill>
              <a:srgbClr val="C8E3ED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947495C-6ADD-CDDE-4B5B-AB10716632F6}"/>
                </a:ext>
              </a:extLst>
            </p:cNvPr>
            <p:cNvSpPr/>
            <p:nvPr/>
          </p:nvSpPr>
          <p:spPr>
            <a:xfrm>
              <a:off x="4155043" y="1566420"/>
              <a:ext cx="1545979" cy="1545979"/>
            </a:xfrm>
            <a:prstGeom prst="ellipse">
              <a:avLst/>
            </a:prstGeom>
            <a:solidFill>
              <a:srgbClr val="EE41DE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F520D3AD-9BEE-36C3-9614-EFABC06FDD43}"/>
              </a:ext>
            </a:extLst>
          </p:cNvPr>
          <p:cNvSpPr/>
          <p:nvPr/>
        </p:nvSpPr>
        <p:spPr>
          <a:xfrm>
            <a:off x="1755851" y="2725662"/>
            <a:ext cx="694330" cy="697361"/>
          </a:xfrm>
          <a:prstGeom prst="ellipse">
            <a:avLst/>
          </a:prstGeom>
          <a:solidFill>
            <a:srgbClr val="CCF7E7">
              <a:alpha val="6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A533A-A1B3-A834-FA84-905AE9B51073}"/>
              </a:ext>
            </a:extLst>
          </p:cNvPr>
          <p:cNvSpPr txBox="1">
            <a:spLocks/>
          </p:cNvSpPr>
          <p:nvPr/>
        </p:nvSpPr>
        <p:spPr>
          <a:xfrm>
            <a:off x="6810365" y="384875"/>
            <a:ext cx="4986374" cy="3106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</a:pPr>
            <a:r>
              <a:rPr lang="en-GB" sz="1800" b="1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Strictly Private &amp; Confidential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E24910-3D4C-8A35-4C47-0CC22E744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6648"/>
            <a:ext cx="12192000" cy="36576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3C77BCE-98C9-2A5F-0CCB-77FF8AA25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0060" y="296989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GB" sz="4000" dirty="0">
                <a:latin typeface="Ubuntu" panose="020B0504030602030204" pitchFamily="34" charset="0"/>
                <a:cs typeface="Calibri" panose="020F0502020204030204" pitchFamily="34" charset="0"/>
              </a:rPr>
              <a:t>Genesis1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ECD35B01-D07F-F71A-CBC3-0E55D2481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0365" y="3618449"/>
            <a:ext cx="4986374" cy="1423452"/>
          </a:xfrm>
        </p:spPr>
        <p:txBody>
          <a:bodyPr anchor="b">
            <a:normAutofit/>
          </a:bodyPr>
          <a:lstStyle/>
          <a:p>
            <a:pPr algn="l">
              <a:spcBef>
                <a:spcPts val="0"/>
              </a:spcBef>
            </a:pPr>
            <a:r>
              <a:rPr lang="en-GB" sz="2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Pricks, Just Scans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GB" sz="16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Development By EDGE Agentic Labs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GB" sz="16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https://genesis1v1.com</a:t>
            </a:r>
            <a:endParaRPr lang="en-GB" sz="1600" i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endParaRPr lang="en-GB" sz="1600" i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GB" sz="1600" i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0936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924</Words>
  <Application>Microsoft Macintosh PowerPoint</Application>
  <PresentationFormat>Widescreen</PresentationFormat>
  <Paragraphs>115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Century Gothic</vt:lpstr>
      <vt:lpstr>Ubuntu</vt:lpstr>
      <vt:lpstr>Office Theme</vt:lpstr>
      <vt:lpstr>Genesis1</vt:lpstr>
      <vt:lpstr>PowerPoint Presentation</vt:lpstr>
      <vt:lpstr>PowerPoint Presentation</vt:lpstr>
      <vt:lpstr>PowerPoint Presentation</vt:lpstr>
      <vt:lpstr>PowerPoint Presentation</vt:lpstr>
      <vt:lpstr>Moving Towards An MVP Phase</vt:lpstr>
      <vt:lpstr>EDGE Agentic Labs: Our Team</vt:lpstr>
      <vt:lpstr>Genesis1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Cathy Tan</dc:creator>
  <cp:lastModifiedBy>Cathy Tan</cp:lastModifiedBy>
  <cp:revision>5</cp:revision>
  <dcterms:created xsi:type="dcterms:W3CDTF">2025-09-27T15:39:58Z</dcterms:created>
  <dcterms:modified xsi:type="dcterms:W3CDTF">2025-09-27T16:19:37Z</dcterms:modified>
</cp:coreProperties>
</file>